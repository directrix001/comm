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COMMENTARY ENGINE</a:t>
            </a:r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</a:rPr>
              <a:t>  —  USER JOURNEY &amp; TECH STACK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64592" y="274320"/>
            <a:ext cx="1188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→ Right  |  All 7 Tabs  |  Tool + Endpoint per step  |  Database connections shown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64592" y="438912"/>
            <a:ext cx="11850624" cy="0"/>
          </a:xfrm>
          <a:prstGeom prst="line">
            <a:avLst/>
          </a:prstGeom>
          <a:noFill/>
          <a:ln w="7620">
            <a:solidFill>
              <a:srgbClr val="1E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12064"/>
            <a:ext cx="475488" cy="1371600"/>
          </a:xfrm>
          <a:prstGeom prst="rect">
            <a:avLst/>
          </a:prstGeom>
          <a:solidFill>
            <a:srgbClr val="1E3A8A"/>
          </a:solidFill>
          <a:ln w="1524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" y="512064"/>
            <a:ext cx="475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1993392"/>
            <a:ext cx="475488" cy="1737360"/>
          </a:xfrm>
          <a:prstGeom prst="rect">
            <a:avLst/>
          </a:prstGeom>
          <a:solidFill>
            <a:srgbClr val="064E3B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" y="1993392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9728" y="3931920"/>
            <a:ext cx="475488" cy="1463040"/>
          </a:xfrm>
          <a:prstGeom prst="rect">
            <a:avLst/>
          </a:prstGeom>
          <a:solidFill>
            <a:srgbClr val="78350F"/>
          </a:solidFill>
          <a:ln w="1524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" y="3931920"/>
            <a:ext cx="475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03504" y="512064"/>
            <a:ext cx="11430000" cy="1371600"/>
          </a:xfrm>
          <a:prstGeom prst="rect">
            <a:avLst/>
          </a:prstGeom>
          <a:solidFill>
            <a:srgbClr val="0E1E3A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1993392"/>
            <a:ext cx="11430000" cy="1737360"/>
          </a:xfrm>
          <a:prstGeom prst="rect">
            <a:avLst/>
          </a:prstGeom>
          <a:solidFill>
            <a:srgbClr val="081A10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3931920"/>
            <a:ext cx="11430000" cy="1463040"/>
          </a:xfrm>
          <a:prstGeom prst="rect">
            <a:avLst/>
          </a:prstGeom>
          <a:solidFill>
            <a:srgbClr val="1A1000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62456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898648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434840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71032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507224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043416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579608" y="493776"/>
            <a:ext cx="0" cy="4983480"/>
          </a:xfrm>
          <a:prstGeom prst="line">
            <a:avLst/>
          </a:prstGeom>
          <a:noFill/>
          <a:ln w="5080">
            <a:solidFill>
              <a:srgbClr val="1E2D4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1792" y="969264"/>
            <a:ext cx="475488" cy="475488"/>
          </a:xfrm>
          <a:prstGeom prst="ellipse">
            <a:avLst/>
          </a:prstGeom>
          <a:solidFill>
            <a:srgbClr val="2563EB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969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66928" y="14813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417320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7320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Tagetik Mapping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417320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72184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.xlsx file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(drag &amp; drop / browse)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Generate Mapping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preview (100 rows)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CSV or Excel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417320" y="2057400"/>
            <a:ext cx="1316736" cy="347472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17320" y="2057400"/>
            <a:ext cx="457200" cy="34747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17320" y="2057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1911096" y="209397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/api/tab1/upload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/api/tab1/download/csv|xlsx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1417320" y="2441448"/>
            <a:ext cx="1316736" cy="402336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17320" y="2441448"/>
            <a:ext cx="457200" cy="402336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17320" y="2441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1911096" y="24780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generate_mapping(bytes)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read_and_normalise() → DataFrame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mapping.xlsx → Entity/Market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1417320" y="2880360"/>
            <a:ext cx="1316736" cy="292608"/>
          </a:xfrm>
          <a:prstGeom prst="rect">
            <a:avLst/>
          </a:prstGeom>
          <a:solidFill>
            <a:srgbClr val="1A0F02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17320" y="2880360"/>
            <a:ext cx="457200" cy="292608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17320" y="2880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1911096" y="291693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session_store.set(sid,'final_db_bytes')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Cookie: va_sid set</a:t>
            </a:r>
            <a:endParaRPr lang="en-US" sz="580" dirty="0"/>
          </a:p>
        </p:txBody>
      </p:sp>
      <p:sp>
        <p:nvSpPr>
          <p:cNvPr id="40" name="Shape 38"/>
          <p:cNvSpPr/>
          <p:nvPr/>
        </p:nvSpPr>
        <p:spPr>
          <a:xfrm>
            <a:off x="1417320" y="3986784"/>
            <a:ext cx="1316736" cy="530352"/>
          </a:xfrm>
          <a:prstGeom prst="rect">
            <a:avLst/>
          </a:prstGeom>
          <a:solidFill>
            <a:srgbClr val="100800"/>
          </a:solidFill>
          <a:ln w="889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72184" y="40233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backend/mapping.xlsx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Entity_desc → Region, Market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CostCat desc → OH/LC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final_db_bytes in session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953512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953512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953512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008376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data source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(Tab1 / Upload / Two files)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period, scenarios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filters, pivot fields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Run Variance Analysis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pivot table + top/bottom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Download Excel report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53512" y="2057400"/>
            <a:ext cx="1316736" cy="347472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953512" y="2057400"/>
            <a:ext cx="457200" cy="347472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53512" y="2057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3447288" y="209397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/api/tab2/load-tab1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/api/tab2/upload  |  /upload-two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/api/tab2/run  →  GET /download/xlsx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2953512" y="2441448"/>
            <a:ext cx="1316736" cy="457200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953512" y="2441448"/>
            <a:ext cx="457200" cy="457200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953512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3447288" y="2478024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apply_filters(df,scenarios,markets…)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run_variance() → pivot_table()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_format_leaf_df() → Variance(M€), Variance%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build_excel_export() → README+Flat+PivotSource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2953512" y="2935224"/>
            <a:ext cx="1316736" cy="274320"/>
          </a:xfrm>
          <a:prstGeom prst="rect">
            <a:avLst/>
          </a:prstGeom>
          <a:solidFill>
            <a:srgbClr val="1A0F02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953512" y="2935224"/>
            <a:ext cx="457200" cy="27432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953512" y="2935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3447288" y="297180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master_db_bytes, leaf_df_bytes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pivot_src_bytes, var_context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2953512" y="3986784"/>
            <a:ext cx="1316736" cy="475488"/>
          </a:xfrm>
          <a:prstGeom prst="rect">
            <a:avLst/>
          </a:prstGeom>
          <a:solidFill>
            <a:srgbClr val="0A0A0A"/>
          </a:solidFill>
          <a:ln w="889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008376" y="402336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 write — session only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pivot data stored in session_store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download streamed directly as bytes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SQLite write at this step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489704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489704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Gen.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489704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544568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Audience Persona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(CFO / VP / Auditor…)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hierarchy columns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Generate Commentary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Exec Summary+RCA+Commentary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Download .md / .txt / .pptx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Rate with 👍 👎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489704" y="2057400"/>
            <a:ext cx="1316736" cy="292608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489704" y="2057400"/>
            <a:ext cx="457200" cy="292608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489704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4983480" y="209397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/api/tab3/run  {persona, hierarchy_cols}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/api/tab3/download/md|txt|pptx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4489704" y="2386584"/>
            <a:ext cx="1316736" cy="420624"/>
          </a:xfrm>
          <a:prstGeom prst="rect">
            <a:avLst/>
          </a:prstGeom>
          <a:solidFill>
            <a:srgbClr val="1A0533"/>
          </a:solidFill>
          <a:ln w="762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489704" y="2386584"/>
            <a:ext cx="457200" cy="420624"/>
          </a:xfrm>
          <a:prstGeom prst="rect">
            <a:avLst/>
          </a:prstGeom>
          <a:solidFill>
            <a:srgbClr val="A78BFA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489704" y="23865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4983480" y="242316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calculate_variance_node()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synthesize_insight_node()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AzureChatOpenAI → persona system prompt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personas → different GPT-4 tone</a:t>
            </a:r>
            <a:endParaRPr lang="en-US" sz="580" dirty="0"/>
          </a:p>
        </p:txBody>
      </p:sp>
      <p:sp>
        <p:nvSpPr>
          <p:cNvPr id="72" name="Shape 70"/>
          <p:cNvSpPr/>
          <p:nvPr/>
        </p:nvSpPr>
        <p:spPr>
          <a:xfrm>
            <a:off x="4489704" y="2843784"/>
            <a:ext cx="1316736" cy="274320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489704" y="2843784"/>
            <a:ext cx="457200" cy="274320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489704" y="28437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4983480" y="288036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generate_ppt_deck() → python-pptx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_split_summary() → exec/RCA/commentary</a:t>
            </a:r>
            <a:endParaRPr lang="en-US" sz="580" dirty="0"/>
          </a:p>
        </p:txBody>
      </p:sp>
      <p:sp>
        <p:nvSpPr>
          <p:cNvPr id="76" name="Shape 74"/>
          <p:cNvSpPr/>
          <p:nvPr/>
        </p:nvSpPr>
        <p:spPr>
          <a:xfrm>
            <a:off x="4489704" y="3986784"/>
            <a:ext cx="1316736" cy="548640"/>
          </a:xfrm>
          <a:prstGeom prst="rect">
            <a:avLst/>
          </a:prstGeom>
          <a:solidFill>
            <a:srgbClr val="1A0A00"/>
          </a:solidFill>
          <a:ln w="889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544568" y="40233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analysis_history.db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runs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(timestamp,filename,hierarchy,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total_variance,summary,feedback)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runs SET feedback=? WHERE id=?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025896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025896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Data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6025896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080760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Persona auto-loaded from Tab 3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(window.__va_persona)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suggested prompt chip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type question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Press Enter / Send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AI answer in chat window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Rate answer 👍 👎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025896" y="2057400"/>
            <a:ext cx="1316736" cy="274320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025896" y="2057400"/>
            <a:ext cx="457200" cy="274320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6025896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6519672" y="209397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/api/tab4/ask  {question}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/api/tab4/clear</a:t>
            </a:r>
            <a:endParaRPr lang="en-US" sz="580" dirty="0"/>
          </a:p>
        </p:txBody>
      </p:sp>
      <p:sp>
        <p:nvSpPr>
          <p:cNvPr id="86" name="Shape 84"/>
          <p:cNvSpPr/>
          <p:nvPr/>
        </p:nvSpPr>
        <p:spPr>
          <a:xfrm>
            <a:off x="6025896" y="2368296"/>
            <a:ext cx="1316736" cy="384048"/>
          </a:xfrm>
          <a:prstGeom prst="rect">
            <a:avLst/>
          </a:prstGeom>
          <a:solidFill>
            <a:srgbClr val="1A0533"/>
          </a:solidFill>
          <a:ln w="762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025896" y="2368296"/>
            <a:ext cx="457200" cy="384048"/>
          </a:xfrm>
          <a:prstGeom prst="rect">
            <a:avLst/>
          </a:prstGeom>
          <a:solidFill>
            <a:srgbClr val="A78BFA"/>
          </a:solidFill>
          <a:ln w="1016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025896" y="2368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50" dirty="0"/>
          </a:p>
        </p:txBody>
      </p:sp>
      <p:sp>
        <p:nvSpPr>
          <p:cNvPr id="89" name="Text 87"/>
          <p:cNvSpPr/>
          <p:nvPr/>
        </p:nvSpPr>
        <p:spPr>
          <a:xfrm>
            <a:off x="6519672" y="240487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create_pandas_dataframe_agent()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agent_type: openai-functions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AzureChatOpenAI temperature=0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run_in_executor() → non-blocking async</a:t>
            </a:r>
            <a:endParaRPr lang="en-US" sz="580" dirty="0"/>
          </a:p>
        </p:txBody>
      </p:sp>
      <p:sp>
        <p:nvSpPr>
          <p:cNvPr id="90" name="Shape 88"/>
          <p:cNvSpPr/>
          <p:nvPr/>
        </p:nvSpPr>
        <p:spPr>
          <a:xfrm>
            <a:off x="6025896" y="2788920"/>
            <a:ext cx="1316736" cy="310896"/>
          </a:xfrm>
          <a:prstGeom prst="rect">
            <a:avLst/>
          </a:prstGeom>
          <a:solidFill>
            <a:srgbClr val="0E1E3A"/>
          </a:solidFill>
          <a:ln w="762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6025896" y="2788920"/>
            <a:ext cx="457200" cy="310896"/>
          </a:xfrm>
          <a:prstGeom prst="rect">
            <a:avLst/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6025896" y="2788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6519672" y="282549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Persona-aware prompt chips (4 groups)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prompts tuned per persona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appendMsg() → chat bubble DOM</a:t>
            </a:r>
            <a:endParaRPr lang="en-US" sz="580" dirty="0"/>
          </a:p>
        </p:txBody>
      </p:sp>
      <p:sp>
        <p:nvSpPr>
          <p:cNvPr id="94" name="Shape 92"/>
          <p:cNvSpPr/>
          <p:nvPr/>
        </p:nvSpPr>
        <p:spPr>
          <a:xfrm>
            <a:off x="6025896" y="3986784"/>
            <a:ext cx="1316736" cy="566928"/>
          </a:xfrm>
          <a:prstGeom prst="rect">
            <a:avLst/>
          </a:prstGeom>
          <a:solidFill>
            <a:srgbClr val="1A0A00"/>
          </a:solidFill>
          <a:ln w="889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080760" y="402336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chat_logs table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chat_logs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(timestamp, prompt, response)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VALUES (?,?,?);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chat_logs SET feedback=? WHERE id=?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7562088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7562088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562088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7616952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tab → auto-loads all runs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row → see full AI summary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See feedback score summary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(👍 / 👎 / ➖ counts)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562088" y="2057400"/>
            <a:ext cx="1316736" cy="310896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7562088" y="2057400"/>
            <a:ext cx="457200" cy="310896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562088" y="20574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103" name="Text 101"/>
          <p:cNvSpPr/>
          <p:nvPr/>
        </p:nvSpPr>
        <p:spPr>
          <a:xfrm>
            <a:off x="8055864" y="209397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/api/tab5/runs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/api/tab5/runs/{id}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/api/tab5/runs/{id}/feedback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/api/tab5/summary</a:t>
            </a:r>
            <a:endParaRPr lang="en-US" sz="580" dirty="0"/>
          </a:p>
        </p:txBody>
      </p:sp>
      <p:sp>
        <p:nvSpPr>
          <p:cNvPr id="104" name="Shape 102"/>
          <p:cNvSpPr/>
          <p:nvPr/>
        </p:nvSpPr>
        <p:spPr>
          <a:xfrm>
            <a:off x="7562088" y="2404872"/>
            <a:ext cx="1316736" cy="329184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7562088" y="2404872"/>
            <a:ext cx="457200" cy="329184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7562088" y="24048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107" name="Text 105"/>
          <p:cNvSpPr/>
          <p:nvPr/>
        </p:nvSpPr>
        <p:spPr>
          <a:xfrm>
            <a:off x="8055864" y="244144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sqlite3.connect('analysis_history.db')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row_factory = sqlite3.Row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fetch_run_history() → pd.read_sql_query()</a:t>
            </a:r>
            <a:endParaRPr lang="en-US" sz="580" dirty="0"/>
          </a:p>
        </p:txBody>
      </p:sp>
      <p:sp>
        <p:nvSpPr>
          <p:cNvPr id="108" name="Shape 106"/>
          <p:cNvSpPr/>
          <p:nvPr/>
        </p:nvSpPr>
        <p:spPr>
          <a:xfrm>
            <a:off x="7562088" y="2770632"/>
            <a:ext cx="1316736" cy="274320"/>
          </a:xfrm>
          <a:prstGeom prst="rect">
            <a:avLst/>
          </a:prstGeom>
          <a:solidFill>
            <a:srgbClr val="0E1E3A"/>
          </a:solidFill>
          <a:ln w="762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562088" y="2770632"/>
            <a:ext cx="457200" cy="274320"/>
          </a:xfrm>
          <a:prstGeom prst="rect">
            <a:avLst/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7562088" y="2770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550" dirty="0"/>
          </a:p>
        </p:txBody>
      </p:sp>
      <p:sp>
        <p:nvSpPr>
          <p:cNvPr id="111" name="Text 109"/>
          <p:cNvSpPr/>
          <p:nvPr/>
        </p:nvSpPr>
        <p:spPr>
          <a:xfrm>
            <a:off x="8055864" y="28072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vaBuildTable() → clickable rows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👍→score=1  👎→score=-1</a:t>
            </a:r>
            <a:endParaRPr lang="en-US" sz="580" dirty="0"/>
          </a:p>
        </p:txBody>
      </p:sp>
      <p:sp>
        <p:nvSpPr>
          <p:cNvPr id="112" name="Shape 110"/>
          <p:cNvSpPr/>
          <p:nvPr/>
        </p:nvSpPr>
        <p:spPr>
          <a:xfrm>
            <a:off x="7562088" y="3986784"/>
            <a:ext cx="1316736" cy="566928"/>
          </a:xfrm>
          <a:prstGeom prst="rect">
            <a:avLst/>
          </a:prstGeom>
          <a:solidFill>
            <a:srgbClr val="1A0A00"/>
          </a:solidFill>
          <a:ln w="889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7616952" y="402336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READ operations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id,timestamp,filename,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total_variance,feedback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runs ORDER BY timestamp DESC;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runs WHERE id=?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9098280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9098280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6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Search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9098280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9153144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Tab opens → filter dropdowns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filters + type keyword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Results update automatically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(500-row preview)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CSV or Excel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9098280" y="2057400"/>
            <a:ext cx="1316736" cy="292608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9098280" y="2057400"/>
            <a:ext cx="457200" cy="292608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9098280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121" name="Text 119"/>
          <p:cNvSpPr/>
          <p:nvPr/>
        </p:nvSpPr>
        <p:spPr>
          <a:xfrm>
            <a:off x="9592056" y="209397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/api/tab6/filters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/api/tab6/search  {filters,search_text}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/api/tab6/download/csv|xlsx</a:t>
            </a:r>
            <a:endParaRPr lang="en-US" sz="580" dirty="0"/>
          </a:p>
        </p:txBody>
      </p:sp>
      <p:sp>
        <p:nvSpPr>
          <p:cNvPr id="122" name="Shape 120"/>
          <p:cNvSpPr/>
          <p:nvPr/>
        </p:nvSpPr>
        <p:spPr>
          <a:xfrm>
            <a:off x="9098280" y="2386584"/>
            <a:ext cx="1316736" cy="402336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9098280" y="2386584"/>
            <a:ext cx="457200" cy="402336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4" name="Text 122"/>
          <p:cNvSpPr/>
          <p:nvPr/>
        </p:nvSpPr>
        <p:spPr>
          <a:xfrm>
            <a:off x="9098280" y="23865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125" name="Text 123"/>
          <p:cNvSpPr/>
          <p:nvPr/>
        </p:nvSpPr>
        <p:spPr>
          <a:xfrm>
            <a:off x="9592056" y="2423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pd.read_excel(MASTER_XLSX)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_sanitise_df() → clean NaN/inf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df[col].isin(vals) → filter rows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str.contains(q, case=False) → keyword</a:t>
            </a:r>
            <a:endParaRPr lang="en-US" sz="580" dirty="0"/>
          </a:p>
        </p:txBody>
      </p:sp>
      <p:sp>
        <p:nvSpPr>
          <p:cNvPr id="126" name="Shape 124"/>
          <p:cNvSpPr/>
          <p:nvPr/>
        </p:nvSpPr>
        <p:spPr>
          <a:xfrm>
            <a:off x="9098280" y="2825496"/>
            <a:ext cx="1316736" cy="256032"/>
          </a:xfrm>
          <a:prstGeom prst="rect">
            <a:avLst/>
          </a:prstGeom>
          <a:solidFill>
            <a:srgbClr val="1A0F02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9098280" y="2825496"/>
            <a:ext cx="457200" cy="256032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8" name="Text 126"/>
          <p:cNvSpPr/>
          <p:nvPr/>
        </p:nvSpPr>
        <p:spPr>
          <a:xfrm>
            <a:off x="9098280" y="2825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</a:t>
            </a:r>
            <a:endParaRPr lang="en-US" sz="550" dirty="0"/>
          </a:p>
        </p:txBody>
      </p:sp>
      <p:sp>
        <p:nvSpPr>
          <p:cNvPr id="129" name="Text 127"/>
          <p:cNvSpPr/>
          <p:nvPr/>
        </p:nvSpPr>
        <p:spPr>
          <a:xfrm>
            <a:off x="9592056" y="28620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search_result_bytes → orient=split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stream as CSV / XLSX bytes</a:t>
            </a:r>
            <a:endParaRPr lang="en-US" sz="580" dirty="0"/>
          </a:p>
        </p:txBody>
      </p:sp>
      <p:sp>
        <p:nvSpPr>
          <p:cNvPr id="130" name="Shape 128"/>
          <p:cNvSpPr/>
          <p:nvPr/>
        </p:nvSpPr>
        <p:spPr>
          <a:xfrm>
            <a:off x="9098280" y="3986784"/>
            <a:ext cx="1316736" cy="566928"/>
          </a:xfrm>
          <a:prstGeom prst="rect">
            <a:avLst/>
          </a:prstGeom>
          <a:solidFill>
            <a:srgbClr val="1A0010"/>
          </a:solidFill>
          <a:ln w="889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9153144" y="402336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database/Segregateddata.xlsx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pd.read_excel() on every request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Category·Scenarios·Functions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Month·Year·Region·Criteria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 Comments.str.contains(q)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10634472" y="493776"/>
            <a:ext cx="1316736" cy="329184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10634472" y="493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7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Upload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10634472" y="566928"/>
            <a:ext cx="1316736" cy="1243584"/>
          </a:xfrm>
          <a:prstGeom prst="rect">
            <a:avLst/>
          </a:prstGeom>
          <a:solidFill>
            <a:srgbClr val="0F172A"/>
          </a:solidFill>
          <a:ln w="889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10689336" y="603504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.pptx / .ppt file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 text from all slides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 &amp; edit extracted rows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(contentEditable table)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Push to Master Database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Preview master DB (100 rows)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0634472" y="2057400"/>
            <a:ext cx="1316736" cy="292608"/>
          </a:xfrm>
          <a:prstGeom prst="rect">
            <a:avLst/>
          </a:prstGeom>
          <a:solidFill>
            <a:srgbClr val="031520"/>
          </a:solidFill>
          <a:ln w="76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10634472" y="2057400"/>
            <a:ext cx="457200" cy="292608"/>
          </a:xfrm>
          <a:prstGeom prst="rect">
            <a:avLst/>
          </a:prstGeom>
          <a:solidFill>
            <a:srgbClr val="22D3EE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8" name="Text 136"/>
          <p:cNvSpPr/>
          <p:nvPr/>
        </p:nvSpPr>
        <p:spPr>
          <a:xfrm>
            <a:off x="10634472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</p:txBody>
      </p:sp>
      <p:sp>
        <p:nvSpPr>
          <p:cNvPr id="139" name="Text 137"/>
          <p:cNvSpPr/>
          <p:nvPr/>
        </p:nvSpPr>
        <p:spPr>
          <a:xfrm>
            <a:off x="11128248" y="209397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/api/tab7/upload  (multipart)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/api/tab7/push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/api/tab7/download | /master</a:t>
            </a:r>
            <a:endParaRPr lang="en-US" sz="580" dirty="0"/>
          </a:p>
        </p:txBody>
      </p:sp>
      <p:sp>
        <p:nvSpPr>
          <p:cNvPr id="140" name="Shape 138"/>
          <p:cNvSpPr/>
          <p:nvPr/>
        </p:nvSpPr>
        <p:spPr>
          <a:xfrm>
            <a:off x="10634472" y="2386584"/>
            <a:ext cx="1316736" cy="402336"/>
          </a:xfrm>
          <a:prstGeom prst="rect">
            <a:avLst/>
          </a:prstGeom>
          <a:solidFill>
            <a:srgbClr val="042811"/>
          </a:solidFill>
          <a:ln w="762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10634472" y="2386584"/>
            <a:ext cx="457200" cy="402336"/>
          </a:xfrm>
          <a:prstGeom prst="rect">
            <a:avLst/>
          </a:prstGeom>
          <a:solidFill>
            <a:srgbClr val="34D399"/>
          </a:solidFill>
          <a:ln w="1016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10634472" y="23865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550" dirty="0"/>
          </a:p>
        </p:txBody>
      </p:sp>
      <p:sp>
        <p:nvSpPr>
          <p:cNvPr id="143" name="Text 141"/>
          <p:cNvSpPr/>
          <p:nvPr/>
        </p:nvSpPr>
        <p:spPr>
          <a:xfrm>
            <a:off x="11128248" y="24231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python-pptx: Presentation(file_obj)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regex: G&amp;A Evolution header parse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_match(text, REGIONS/CRITERIA/ENTITY)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pd.concat([master,df_new]).drop_duplicates()</a:t>
            </a:r>
            <a:endParaRPr lang="en-US" sz="580" dirty="0"/>
          </a:p>
        </p:txBody>
      </p:sp>
      <p:sp>
        <p:nvSpPr>
          <p:cNvPr id="144" name="Shape 142"/>
          <p:cNvSpPr/>
          <p:nvPr/>
        </p:nvSpPr>
        <p:spPr>
          <a:xfrm>
            <a:off x="10634472" y="2825496"/>
            <a:ext cx="1316736" cy="256032"/>
          </a:xfrm>
          <a:prstGeom prst="rect">
            <a:avLst/>
          </a:prstGeom>
          <a:solidFill>
            <a:srgbClr val="1A0F02"/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5" name="Shape 143"/>
          <p:cNvSpPr/>
          <p:nvPr/>
        </p:nvSpPr>
        <p:spPr>
          <a:xfrm>
            <a:off x="10634472" y="2825496"/>
            <a:ext cx="457200" cy="256032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10634472" y="28254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</a:t>
            </a:r>
            <a:endParaRPr lang="en-US" sz="550" dirty="0"/>
          </a:p>
        </p:txBody>
      </p:sp>
      <p:sp>
        <p:nvSpPr>
          <p:cNvPr id="147" name="Text 145"/>
          <p:cNvSpPr/>
          <p:nvPr/>
        </p:nvSpPr>
        <p:spPr>
          <a:xfrm>
            <a:off x="11128248" y="286207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ppt_extract_bytes → orient=split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push to master xlsx</a:t>
            </a:r>
            <a:endParaRPr lang="en-US" sz="580" dirty="0"/>
          </a:p>
        </p:txBody>
      </p:sp>
      <p:sp>
        <p:nvSpPr>
          <p:cNvPr id="148" name="Shape 146"/>
          <p:cNvSpPr/>
          <p:nvPr/>
        </p:nvSpPr>
        <p:spPr>
          <a:xfrm>
            <a:off x="10634472" y="3986784"/>
            <a:ext cx="1316736" cy="566928"/>
          </a:xfrm>
          <a:prstGeom prst="rect">
            <a:avLst/>
          </a:prstGeom>
          <a:solidFill>
            <a:srgbClr val="1A0010"/>
          </a:solidFill>
          <a:ln w="889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9" name="Text 147"/>
          <p:cNvSpPr/>
          <p:nvPr/>
        </p:nvSpPr>
        <p:spPr>
          <a:xfrm>
            <a:off x="10689336" y="402336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database/Segregateddata.xlsx</a:t>
            </a:r>
            <a:endParaRPr lang="en-US" sz="650" dirty="0"/>
          </a:p>
          <a:p>
            <a:pPr indent="0" marL="0">
              <a:buNone/>
            </a:pPr>
            <a:r>
              <a:rPr lang="en-US" sz="5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pd.read_excel() → existing master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pd.concat() → drop_duplicates()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→ to_excel(MASTER_XLSX, index=False)</a:t>
            </a:r>
            <a:endParaRPr lang="en-US" sz="650" dirty="0"/>
          </a:p>
          <a:p>
            <a:pPr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on: Slide_Number + Comments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859536" y="1197864"/>
            <a:ext cx="557784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1" name="Shape 149"/>
          <p:cNvSpPr/>
          <p:nvPr/>
        </p:nvSpPr>
        <p:spPr>
          <a:xfrm>
            <a:off x="2734056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4270248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>
            <a:off x="5806440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7342632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>
            <a:off x="8878824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>
            <a:off x="10415016" y="1197864"/>
            <a:ext cx="219456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2075688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2075688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59" name="Shape 157"/>
          <p:cNvSpPr/>
          <p:nvPr/>
        </p:nvSpPr>
        <p:spPr>
          <a:xfrm>
            <a:off x="3611880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60" name="Shape 158"/>
          <p:cNvSpPr/>
          <p:nvPr/>
        </p:nvSpPr>
        <p:spPr>
          <a:xfrm>
            <a:off x="3611880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5148072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5148072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6684264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64" name="Shape 162"/>
          <p:cNvSpPr/>
          <p:nvPr/>
        </p:nvSpPr>
        <p:spPr>
          <a:xfrm>
            <a:off x="6684264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8220456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8220456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9756648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9756648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69" name="Shape 167"/>
          <p:cNvSpPr/>
          <p:nvPr/>
        </p:nvSpPr>
        <p:spPr>
          <a:xfrm>
            <a:off x="11292840" y="1883664"/>
            <a:ext cx="0" cy="109728"/>
          </a:xfrm>
          <a:prstGeom prst="line">
            <a:avLst/>
          </a:prstGeom>
          <a:noFill/>
          <a:ln w="12700">
            <a:solidFill>
              <a:srgbClr val="34D399"/>
            </a:solidFill>
            <a:prstDash val="dash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11292840" y="3730752"/>
            <a:ext cx="0" cy="201168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5148072" y="4251960"/>
            <a:ext cx="3072384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ysDash"/>
          </a:ln>
        </p:spPr>
      </p:sp>
      <p:sp>
        <p:nvSpPr>
          <p:cNvPr id="172" name="Text 170"/>
          <p:cNvSpPr/>
          <p:nvPr/>
        </p:nvSpPr>
        <p:spPr>
          <a:xfrm>
            <a:off x="6318504" y="412394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runs table</a:t>
            </a:r>
            <a:endParaRPr lang="en-US" sz="550" dirty="0"/>
          </a:p>
        </p:txBody>
      </p:sp>
      <p:sp>
        <p:nvSpPr>
          <p:cNvPr id="173" name="Shape 171"/>
          <p:cNvSpPr/>
          <p:nvPr/>
        </p:nvSpPr>
        <p:spPr>
          <a:xfrm>
            <a:off x="6684264" y="4480560"/>
            <a:ext cx="1536192" cy="0"/>
          </a:xfrm>
          <a:prstGeom prst="line">
            <a:avLst/>
          </a:prstGeom>
          <a:noFill/>
          <a:ln w="12700">
            <a:solidFill>
              <a:srgbClr val="67E8F9"/>
            </a:solidFill>
            <a:prstDash val="sysDash"/>
          </a:ln>
        </p:spPr>
      </p:sp>
      <p:sp>
        <p:nvSpPr>
          <p:cNvPr id="174" name="Text 172"/>
          <p:cNvSpPr/>
          <p:nvPr/>
        </p:nvSpPr>
        <p:spPr>
          <a:xfrm>
            <a:off x="7132320" y="435254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chat_logs</a:t>
            </a:r>
            <a:endParaRPr lang="en-US" sz="550" dirty="0"/>
          </a:p>
        </p:txBody>
      </p:sp>
      <p:sp>
        <p:nvSpPr>
          <p:cNvPr id="175" name="Shape 173"/>
          <p:cNvSpPr/>
          <p:nvPr/>
        </p:nvSpPr>
        <p:spPr>
          <a:xfrm>
            <a:off x="9756648" y="4361688"/>
            <a:ext cx="1536192" cy="0"/>
          </a:xfrm>
          <a:prstGeom prst="line">
            <a:avLst/>
          </a:prstGeom>
          <a:noFill/>
          <a:ln w="12700">
            <a:solidFill>
              <a:srgbClr val="F472B6"/>
            </a:solidFill>
            <a:prstDash val="sysDash"/>
          </a:ln>
        </p:spPr>
      </p:sp>
      <p:sp>
        <p:nvSpPr>
          <p:cNvPr id="176" name="Text 174"/>
          <p:cNvSpPr/>
          <p:nvPr/>
        </p:nvSpPr>
        <p:spPr>
          <a:xfrm>
            <a:off x="10067544" y="4224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Segregateddata.xlsx</a:t>
            </a:r>
            <a:endParaRPr lang="en-US" sz="550" dirty="0"/>
          </a:p>
        </p:txBody>
      </p:sp>
      <p:sp>
        <p:nvSpPr>
          <p:cNvPr id="177" name="Shape 175"/>
          <p:cNvSpPr/>
          <p:nvPr/>
        </p:nvSpPr>
        <p:spPr>
          <a:xfrm>
            <a:off x="137160" y="5559552"/>
            <a:ext cx="11850624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82880" y="5559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LEGEND: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1280160" y="5650992"/>
            <a:ext cx="310896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2801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/>
          </a:p>
        </p:txBody>
      </p:sp>
      <p:sp>
        <p:nvSpPr>
          <p:cNvPr id="181" name="Text 179"/>
          <p:cNvSpPr/>
          <p:nvPr/>
        </p:nvSpPr>
        <p:spPr>
          <a:xfrm>
            <a:off x="16276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 (uvicorn)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3108960" y="5650992"/>
            <a:ext cx="310896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1089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600" dirty="0"/>
          </a:p>
        </p:txBody>
      </p:sp>
      <p:sp>
        <p:nvSpPr>
          <p:cNvPr id="184" name="Text 182"/>
          <p:cNvSpPr/>
          <p:nvPr/>
        </p:nvSpPr>
        <p:spPr>
          <a:xfrm>
            <a:off x="34564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 Layer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4937760" y="5650992"/>
            <a:ext cx="310896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9377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00" dirty="0"/>
          </a:p>
        </p:txBody>
      </p:sp>
      <p:sp>
        <p:nvSpPr>
          <p:cNvPr id="187" name="Text 185"/>
          <p:cNvSpPr/>
          <p:nvPr/>
        </p:nvSpPr>
        <p:spPr>
          <a:xfrm>
            <a:off x="52852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+ LangGraph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6766560" y="5650992"/>
            <a:ext cx="310896" cy="2743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7665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</a:t>
            </a:r>
            <a:endParaRPr lang="en-US" sz="600" dirty="0"/>
          </a:p>
        </p:txBody>
      </p:sp>
      <p:sp>
        <p:nvSpPr>
          <p:cNvPr id="190" name="Text 188"/>
          <p:cNvSpPr/>
          <p:nvPr/>
        </p:nvSpPr>
        <p:spPr>
          <a:xfrm>
            <a:off x="71140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session_store.py (va_sid)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8595360" y="5650992"/>
            <a:ext cx="310896" cy="274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85953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600" dirty="0"/>
          </a:p>
        </p:txBody>
      </p:sp>
      <p:sp>
        <p:nvSpPr>
          <p:cNvPr id="193" name="Text 191"/>
          <p:cNvSpPr/>
          <p:nvPr/>
        </p:nvSpPr>
        <p:spPr>
          <a:xfrm>
            <a:off x="89428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JavaScript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10424160" y="5650992"/>
            <a:ext cx="310896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0424160" y="56509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600" dirty="0"/>
          </a:p>
        </p:txBody>
      </p:sp>
      <p:sp>
        <p:nvSpPr>
          <p:cNvPr id="196" name="Text 194"/>
          <p:cNvSpPr/>
          <p:nvPr/>
        </p:nvSpPr>
        <p:spPr>
          <a:xfrm>
            <a:off x="10771632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.xlsx storage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137160" y="6675120"/>
            <a:ext cx="11850624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37160" y="6693408"/>
            <a:ext cx="1185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Genpact · Nissan Partnership  |  Commentary Engine v1.0  |  User Journey &amp; Tech Stack Flow  |  Confidential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2026-05-12T08:37:02Z</dcterms:created>
  <dcterms:modified xsi:type="dcterms:W3CDTF">2026-05-12T08:37:02Z</dcterms:modified>
</cp:coreProperties>
</file>