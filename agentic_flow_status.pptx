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41C2C"/>
                </a:solidFill>
                <a:latin typeface="Arial"/>
              </a:rPr>
              <a:t>Agentic Price Model - Data Flow vs Current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B6B75"/>
                </a:solidFill>
                <a:latin typeface="Arial"/>
              </a:rPr>
              <a:t>Gurgaon-proposed pipeline drawn end-to-end; every node colored by our implementation status.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256032"/>
            <a:ext cx="896112" cy="292608"/>
          </a:xfrm>
          <a:prstGeom prst="roundRect">
            <a:avLst/>
          </a:prstGeom>
          <a:solidFill>
            <a:srgbClr val="E6F4EC"/>
          </a:solidFill>
          <a:ln w="1270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E744A"/>
                </a:solidFill>
                <a:latin typeface="Arial"/>
              </a:rPr>
              <a:t>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50424" y="256032"/>
            <a:ext cx="896112" cy="292608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E8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B45309"/>
                </a:solidFill>
                <a:latin typeface="Arial"/>
              </a:rPr>
              <a:t>PARTIAL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19688" y="256032"/>
            <a:ext cx="896112" cy="292608"/>
          </a:xfrm>
          <a:prstGeom prst="roundRect">
            <a:avLst/>
          </a:prstGeom>
          <a:solidFill>
            <a:srgbClr val="FBEAEB"/>
          </a:solidFill>
          <a:ln w="12700">
            <a:solidFill>
              <a:srgbClr val="E8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9B2C2C"/>
                </a:solidFill>
                <a:latin typeface="Arial"/>
              </a:rPr>
              <a:t>TO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2011680" cy="777240"/>
          </a:xfrm>
          <a:prstGeom prst="roundRect">
            <a:avLst/>
          </a:prstGeom>
          <a:solidFill>
            <a:srgbClr val="041C2C"/>
          </a:solidFill>
          <a:ln w="15240">
            <a:solidFill>
              <a:srgbClr val="FF5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PRICE REQUEST</a:t>
            </a:r>
          </a:p>
          <a:p>
            <a:pPr algn="ctr"/>
            <a:r>
              <a:rPr sz="760">
                <a:solidFill>
                  <a:srgbClr val="C9D3D9"/>
                </a:solidFill>
                <a:latin typeface="Arial"/>
              </a:rPr>
              <a:t>User / batch asks for a</a:t>
            </a:r>
          </a:p>
          <a:p>
            <a:pPr algn="ctr"/>
            <a:r>
              <a:rPr sz="760">
                <a:solidFill>
                  <a:srgbClr val="C9D3D9"/>
                </a:solidFill>
                <a:latin typeface="Arial"/>
              </a:rPr>
              <a:t>part price forecast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440180"/>
            <a:ext cx="411480" cy="0"/>
          </a:xfrm>
          <a:prstGeom prst="line">
            <a:avLst/>
          </a:prstGeom>
          <a:ln w="2540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1051560"/>
            <a:ext cx="2377440" cy="77724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MATERIAL AGENT  (LIVE)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Identifies part + Tier 1,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weight, current price (lookup)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1572768" cy="86868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PPI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labour.db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BLS PPI index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152144" y="1828800"/>
            <a:ext cx="2871216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52144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43684" y="2377440"/>
            <a:ext cx="1572768" cy="86868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LME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lme.db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base price $/lb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830068" y="1828800"/>
            <a:ext cx="1193292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0068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21608" y="2377440"/>
            <a:ext cx="1572768" cy="86868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ALLOY / PREMIUM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midwest_premium.db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regional premium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1828800"/>
            <a:ext cx="484632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07992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9532" y="2377440"/>
            <a:ext cx="1572768" cy="86868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ENERGY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gas.db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CNG cost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1828800"/>
            <a:ext cx="2162556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85916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77456" y="2377440"/>
            <a:ext cx="1572768" cy="868680"/>
          </a:xfrm>
          <a:prstGeom prst="roundRect">
            <a:avLst/>
          </a:prstGeom>
          <a:solidFill>
            <a:srgbClr val="FBEAEB"/>
          </a:solidFill>
          <a:ln w="15240">
            <a:solidFill>
              <a:srgbClr val="E8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9B2C2C"/>
                </a:solidFill>
                <a:latin typeface="Arial"/>
              </a:rPr>
              <a:t>FX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USD/INR factor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not tracked yet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1828800"/>
            <a:ext cx="3840480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55380" y="2377440"/>
            <a:ext cx="1572768" cy="868680"/>
          </a:xfrm>
          <a:prstGeom prst="roundRect">
            <a:avLst/>
          </a:prstGeom>
          <a:solidFill>
            <a:srgbClr val="FBEAEB"/>
          </a:solidFill>
          <a:ln w="15240">
            <a:solidFill>
              <a:srgbClr val="E8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9B2C2C"/>
                </a:solidFill>
                <a:latin typeface="Arial"/>
              </a:rPr>
              <a:t>SCRAP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secondary alloy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not tracked yet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23360" y="1828800"/>
            <a:ext cx="5518404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41764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33304" y="2377440"/>
            <a:ext cx="1572768" cy="868680"/>
          </a:xfrm>
          <a:prstGeom prst="roundRect">
            <a:avLst/>
          </a:prstGeom>
          <a:solidFill>
            <a:srgbClr val="FBEAEB"/>
          </a:solidFill>
          <a:ln w="15240">
            <a:solidFill>
              <a:srgbClr val="E8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9B2C2C"/>
                </a:solidFill>
                <a:latin typeface="Arial"/>
              </a:rPr>
              <a:t>FREIGHT AGENT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logistics cost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not tracked yet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23360" y="1828800"/>
            <a:ext cx="7196328" cy="54864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219688" y="3246120"/>
            <a:ext cx="0" cy="411480"/>
          </a:xfrm>
          <a:prstGeom prst="line">
            <a:avLst/>
          </a:prstGeom>
          <a:ln w="13970">
            <a:solidFill>
              <a:srgbClr val="C9D3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3703320"/>
            <a:ext cx="4023360" cy="914400"/>
          </a:xfrm>
          <a:prstGeom prst="roundRect">
            <a:avLst/>
          </a:prstGeom>
          <a:solidFill>
            <a:srgbClr val="FDF3E3"/>
          </a:solidFill>
          <a:ln w="15240">
            <a:solidFill>
              <a:srgbClr val="E8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B45309"/>
                </a:solidFill>
                <a:latin typeface="Arial"/>
              </a:rPr>
              <a:t>FEATURE ENGINE  (PARTIAL)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Quarter lags + MoM/QoQ/YoY live.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t-1/t-2 learned lags + 3M rolling: pending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89120" y="4160520"/>
            <a:ext cx="411480" cy="0"/>
          </a:xfrm>
          <a:prstGeom prst="line">
            <a:avLst/>
          </a:prstGeom>
          <a:ln w="2540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46320" y="3703320"/>
            <a:ext cx="3200400" cy="914400"/>
          </a:xfrm>
          <a:prstGeom prst="roundRect">
            <a:avLst/>
          </a:prstGeom>
          <a:solidFill>
            <a:srgbClr val="FDF3E3"/>
          </a:solidFill>
          <a:ln w="15240">
            <a:solidFill>
              <a:srgbClr val="E8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B45309"/>
                </a:solidFill>
                <a:latin typeface="Arial"/>
              </a:rPr>
              <a:t>ML FORECASTING  (PARTIAL)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ExtraTrees 12-mo chained live.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XGBoost/SHAP + P10/P50/P90 bands: pending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46720" y="4160520"/>
            <a:ext cx="411480" cy="0"/>
          </a:xfrm>
          <a:prstGeom prst="line">
            <a:avLst/>
          </a:prstGeom>
          <a:ln w="2540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03920" y="3703320"/>
            <a:ext cx="3291840" cy="914400"/>
          </a:xfrm>
          <a:prstGeom prst="roundRect">
            <a:avLst/>
          </a:prstGeom>
          <a:solidFill>
            <a:srgbClr val="FBEAEB"/>
          </a:solidFill>
          <a:ln w="15240">
            <a:solidFill>
              <a:srgbClr val="E8A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9B2C2C"/>
                </a:solidFill>
                <a:latin typeface="Arial"/>
              </a:rPr>
              <a:t>PRICE GOVERNANCE  (TO BUILD)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Market vs ML vs supplier-quote challenge,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tolerance rules, accept/validate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49840" y="4617720"/>
            <a:ext cx="0" cy="411480"/>
          </a:xfrm>
          <a:prstGeom prst="line">
            <a:avLst/>
          </a:prstGeom>
          <a:ln w="25400">
            <a:solidFill>
              <a:srgbClr val="FF5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223760" y="5074920"/>
            <a:ext cx="4572000" cy="868680"/>
          </a:xfrm>
          <a:prstGeom prst="roundRect">
            <a:avLst/>
          </a:prstGeom>
          <a:solidFill>
            <a:srgbClr val="FDF3E3"/>
          </a:solidFill>
          <a:ln w="15240">
            <a:solidFill>
              <a:srgbClr val="E8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B45309"/>
                </a:solidFill>
                <a:latin typeface="Arial"/>
              </a:rPr>
              <a:t>MONTHLY PRICE RECOMMENDATION  (PARTIAL)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12-month per-part forecast + on-screen sheets live today.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Driver percent-attribution + confidence + ERP/SAP push: pending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074920"/>
            <a:ext cx="4023360" cy="868680"/>
          </a:xfrm>
          <a:prstGeom prst="roundRect">
            <a:avLst/>
          </a:prstGeom>
          <a:solidFill>
            <a:srgbClr val="E6F4EC"/>
          </a:solidFill>
          <a:ln w="15240">
            <a:solidFill>
              <a:srgbClr val="8FC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18288"/>
          <a:lstStyle/>
          <a:p>
            <a:pPr algn="ctr"/>
            <a:r>
              <a:rPr sz="950" b="1">
                <a:solidFill>
                  <a:srgbClr val="0E744A"/>
                </a:solidFill>
                <a:latin typeface="Arial"/>
              </a:rPr>
              <a:t>ALREADY BEYOND THE PROPOSAL  (LIVE)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Chat assistant over the same DBs: text-to-SQL,</a:t>
            </a:r>
          </a:p>
          <a:p>
            <a:pPr algn="ctr"/>
            <a:r>
              <a:rPr sz="760">
                <a:solidFill>
                  <a:srgbClr val="5B6B75"/>
                </a:solidFill>
                <a:latin typeface="Arial"/>
              </a:rPr>
              <a:t>event + web correlation, streamed explanations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 i="1">
                <a:solidFill>
                  <a:srgbClr val="041C2C"/>
                </a:solidFill>
                <a:latin typeface="Arial"/>
              </a:rPr>
              <a:t>Read: green nodes are running in the platform today; amber nodes exist but miss proposal features; red nodes are the next build wave (FX/scrap/freight agents + governance loop).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